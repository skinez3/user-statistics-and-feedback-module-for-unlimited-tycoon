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Jur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2081">
          <p15:clr>
            <a:srgbClr val="747775"/>
          </p15:clr>
        </p15:guide>
        <p15:guide id="4" pos="4321">
          <p15:clr>
            <a:srgbClr val="747775"/>
          </p15:clr>
        </p15:guide>
        <p15:guide id="5" pos="14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15F57C-E119-40B1-9D40-BE093FB7899B}">
  <a:tblStyle styleId="{1215F57C-E119-40B1-9D40-BE093FB789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081" orient="horz"/>
        <p:guide pos="4321"/>
        <p:guide pos="14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Jura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Jur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9ba56ca55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9ba56ca55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a36652fb86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a36652fb86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9c0b7cdea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9c0b7cdea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9c0b7cdea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9c0b7cdea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c0b7cdea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c0b7cdea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9c0b7cdea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9c0b7cdea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9c0b7cdea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9c0b7cdea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9c0b7cdea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9c0b7cdea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9c0b7cdea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9c0b7cdea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64100" y="544550"/>
            <a:ext cx="8520600" cy="30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22">
                <a:latin typeface="Jura"/>
                <a:ea typeface="Jura"/>
                <a:cs typeface="Jura"/>
                <a:sym typeface="Jura"/>
              </a:rPr>
              <a:t>Создание модуля для фиксирования статистики пользователей в компьютерной игре с использованием СУБД.</a:t>
            </a:r>
            <a:endParaRPr b="1" sz="3022"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Jura"/>
                <a:ea typeface="Jura"/>
                <a:cs typeface="Jura"/>
                <a:sym typeface="Jura"/>
              </a:rPr>
              <a:t>Задачи:</a:t>
            </a:r>
            <a:endParaRPr sz="1500"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Jura"/>
                <a:ea typeface="Jura"/>
                <a:cs typeface="Jura"/>
                <a:sym typeface="Jura"/>
              </a:rPr>
              <a:t>1. Спроектировать модель базы данных.</a:t>
            </a:r>
            <a:endParaRPr sz="1500"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ru" sz="1500">
                <a:latin typeface="Jura"/>
                <a:ea typeface="Jura"/>
                <a:cs typeface="Jura"/>
                <a:sym typeface="Jura"/>
              </a:rPr>
              <a:t>2. Разработать клиентскую часть приложения.</a:t>
            </a:r>
            <a:endParaRPr sz="1500"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ru" sz="1500">
                <a:latin typeface="Jura"/>
                <a:ea typeface="Jura"/>
                <a:cs typeface="Jura"/>
                <a:sym typeface="Jura"/>
              </a:rPr>
              <a:t>3. Разработать бизнес-логику приложения.</a:t>
            </a:r>
            <a:endParaRPr sz="1500"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ru" sz="1500">
                <a:latin typeface="Jura"/>
                <a:ea typeface="Jura"/>
                <a:cs typeface="Jura"/>
                <a:sym typeface="Jura"/>
              </a:rPr>
              <a:t>4. Разработать серверную часть приложения.</a:t>
            </a:r>
            <a:endParaRPr sz="1500"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Jura"/>
                <a:ea typeface="Jura"/>
                <a:cs typeface="Jura"/>
                <a:sym typeface="Jura"/>
              </a:rPr>
              <a:t>5. Оформить документацию.</a:t>
            </a:r>
            <a:endParaRPr sz="1500"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685050"/>
            <a:ext cx="9144000" cy="14586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464100" y="4042800"/>
            <a:ext cx="8520600" cy="7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2060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rPr>
              <a:t>Презентацию подготовил студент ИУК5-52Б</a:t>
            </a:r>
            <a:endParaRPr sz="2060">
              <a:solidFill>
                <a:schemeClr val="accent2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2060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rPr>
              <a:t>Коммер Кристиан Айгарович</a:t>
            </a:r>
            <a:endParaRPr sz="2060">
              <a:solidFill>
                <a:schemeClr val="accent2"/>
              </a:solidFill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2075"/>
            <a:ext cx="9144000" cy="14586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Jura"/>
                <a:ea typeface="Jura"/>
                <a:cs typeface="Jura"/>
                <a:sym typeface="Jura"/>
              </a:rPr>
              <a:t>Unlimited Tycoon</a:t>
            </a:r>
            <a:endParaRPr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225" y="1617925"/>
            <a:ext cx="6791550" cy="33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2075"/>
            <a:ext cx="9144000" cy="7905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72925"/>
            <a:ext cx="85206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Jura"/>
                <a:ea typeface="Jura"/>
                <a:cs typeface="Jura"/>
                <a:sym typeface="Jura"/>
              </a:rPr>
              <a:t>Логическая схема</a:t>
            </a:r>
            <a:endParaRPr sz="2500"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050" y="847750"/>
            <a:ext cx="4365875" cy="424225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" name="Google Shape;77;p15"/>
          <p:cNvGraphicFramePr/>
          <p:nvPr/>
        </p:nvGraphicFramePr>
        <p:xfrm>
          <a:off x="2389050" y="8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{1215F57C-E119-40B1-9D40-BE093FB7899B}</a:tableStyleId>
              </a:tblPr>
              <a:tblGrid>
                <a:gridCol w="4365875"/>
              </a:tblGrid>
              <a:tr h="4242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2075"/>
            <a:ext cx="9144000" cy="14586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Jura"/>
                <a:ea typeface="Jura"/>
                <a:cs typeface="Jura"/>
                <a:sym typeface="Jura"/>
              </a:rPr>
              <a:t>Схема модуля</a:t>
            </a:r>
            <a:endParaRPr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713" y="1614387"/>
            <a:ext cx="8658570" cy="337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0" y="2075"/>
            <a:ext cx="9144000" cy="14586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Jura"/>
                <a:ea typeface="Jura"/>
                <a:cs typeface="Jura"/>
                <a:sym typeface="Jura"/>
              </a:rPr>
              <a:t>Отправка отзыва</a:t>
            </a:r>
            <a:endParaRPr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1053" l="1055" r="1299" t="1462"/>
          <a:stretch/>
        </p:blipFill>
        <p:spPr>
          <a:xfrm>
            <a:off x="517200" y="1808475"/>
            <a:ext cx="3534350" cy="29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 rotWithShape="1">
          <a:blip r:embed="rId4">
            <a:alphaModFix/>
          </a:blip>
          <a:srcRect b="699" l="616" r="0" t="866"/>
          <a:stretch/>
        </p:blipFill>
        <p:spPr>
          <a:xfrm>
            <a:off x="5092450" y="1808475"/>
            <a:ext cx="3534350" cy="29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2075"/>
            <a:ext cx="9144000" cy="14586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Jura"/>
                <a:ea typeface="Jura"/>
                <a:cs typeface="Jura"/>
                <a:sym typeface="Jura"/>
              </a:rPr>
              <a:t>Просмотр статистики</a:t>
            </a:r>
            <a:endParaRPr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675" l="744" r="0" t="0"/>
          <a:stretch/>
        </p:blipFill>
        <p:spPr>
          <a:xfrm>
            <a:off x="517200" y="1808475"/>
            <a:ext cx="3534350" cy="29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2450" y="1808475"/>
            <a:ext cx="3534350" cy="29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0" y="2075"/>
            <a:ext cx="9144000" cy="14586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Jura"/>
                <a:ea typeface="Jura"/>
                <a:cs typeface="Jura"/>
                <a:sym typeface="Jura"/>
              </a:rPr>
              <a:t>Управление администраторами</a:t>
            </a:r>
            <a:endParaRPr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656" t="0"/>
          <a:stretch/>
        </p:blipFill>
        <p:spPr>
          <a:xfrm>
            <a:off x="517200" y="1808475"/>
            <a:ext cx="3534350" cy="29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/>
          </a:blip>
          <a:srcRect b="0" l="0" r="606" t="0"/>
          <a:stretch/>
        </p:blipFill>
        <p:spPr>
          <a:xfrm>
            <a:off x="5092450" y="1808475"/>
            <a:ext cx="3534350" cy="29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0" y="2075"/>
            <a:ext cx="9144000" cy="7905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311700" y="72925"/>
            <a:ext cx="85206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Jura"/>
                <a:ea typeface="Jura"/>
                <a:cs typeface="Jura"/>
                <a:sym typeface="Jura"/>
              </a:rPr>
              <a:t>Просмотр статистики</a:t>
            </a:r>
            <a:endParaRPr sz="2500"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675" y="944975"/>
            <a:ext cx="5818662" cy="40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/>
          <p:nvPr/>
        </p:nvSpPr>
        <p:spPr>
          <a:xfrm>
            <a:off x="0" y="2075"/>
            <a:ext cx="9144000" cy="7905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72925"/>
            <a:ext cx="85206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latin typeface="Jura"/>
                <a:ea typeface="Jura"/>
                <a:cs typeface="Jura"/>
                <a:sym typeface="Jura"/>
              </a:rPr>
              <a:t>Просмотр статистики</a:t>
            </a:r>
            <a:endParaRPr sz="2500"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132" name="Google Shape;132;p21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1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FF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550" y="792575"/>
            <a:ext cx="7044908" cy="43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ctrTitle"/>
          </p:nvPr>
        </p:nvSpPr>
        <p:spPr>
          <a:xfrm>
            <a:off x="464100" y="544550"/>
            <a:ext cx="8520600" cy="17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latin typeface="Jura"/>
                <a:ea typeface="Jura"/>
                <a:cs typeface="Jura"/>
                <a:sym typeface="Jura"/>
              </a:rPr>
              <a:t>Спасибо за внимание</a:t>
            </a:r>
            <a:endParaRPr b="1" sz="2800"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0" y="3685050"/>
            <a:ext cx="9144000" cy="1458600"/>
          </a:xfrm>
          <a:prstGeom prst="rect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464100" y="4042800"/>
            <a:ext cx="8520600" cy="7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2060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rPr>
              <a:t>Презентацию подготовил студент ИУК5-52Б</a:t>
            </a:r>
            <a:endParaRPr sz="2060">
              <a:solidFill>
                <a:schemeClr val="accent2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" sz="2060">
                <a:solidFill>
                  <a:schemeClr val="accent2"/>
                </a:solidFill>
                <a:latin typeface="Jura"/>
                <a:ea typeface="Jura"/>
                <a:cs typeface="Jura"/>
                <a:sym typeface="Jura"/>
              </a:rPr>
              <a:t>Коммер Кристиан Айгарович</a:t>
            </a:r>
            <a:endParaRPr sz="2060">
              <a:solidFill>
                <a:schemeClr val="accent2"/>
              </a:solidFill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8745300" y="0"/>
            <a:ext cx="398700" cy="393900"/>
          </a:xfrm>
          <a:prstGeom prst="rtTriangle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 rot="-5400000">
            <a:off x="8349000" y="396300"/>
            <a:ext cx="398700" cy="393900"/>
          </a:xfrm>
          <a:prstGeom prst="rtTriangle">
            <a:avLst/>
          </a:prstGeom>
          <a:solidFill>
            <a:srgbClr val="9CC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